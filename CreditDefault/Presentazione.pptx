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iQ3CBNkuEenNtFXTQiRt4zApKa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22" Type="http://schemas.openxmlformats.org/officeDocument/2006/relationships/font" Target="fonts/MavenPro-regular.fntdata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682def0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2682def0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456eab68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456eab68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682def0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2682def0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11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11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11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11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11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1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1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11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11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1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1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1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11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11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1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1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1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1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11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11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1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11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11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1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1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11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11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1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11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1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1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1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1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1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1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4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60" name="Google Shape;60;p14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61" name="Google Shape;61;p1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66" name="Google Shape;66;p1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72" name="Google Shape;72;p1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77" name="Google Shape;77;p1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14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81" name="Google Shape;81;p14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14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87" name="Google Shape;87;p14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14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92" name="Google Shape;92;p14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96" name="Google Shape;96;p14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14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02" name="Google Shape;102;p14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14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07" name="Google Shape;107;p14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14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12" name="Google Shape;112;p14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16" name="Google Shape;116;p14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14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121" name="Google Shape;121;p14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14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126" name="Google Shape;126;p14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" name="Google Shape;131;p14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132" name="Google Shape;132;p14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4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" name="Google Shape;136;p14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137" name="Google Shape;137;p14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4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14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141" name="Google Shape;141;p14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4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14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146" name="Google Shape;146;p14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4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4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4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152" name="Google Shape;152;p14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4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4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4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157" name="Google Shape;157;p14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4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" name="Google Shape;160;p14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161" name="Google Shape;161;p14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14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167" name="Google Shape;167;p14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4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172" name="Google Shape;172;p14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4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4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4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177" name="Google Shape;177;p14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4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4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4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181" name="Google Shape;181;p14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4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5" name="Google Shape;185;p14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90" name="Google Shape;190;p1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91" name="Google Shape;191;p1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" name="Google Shape;193;p1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94" name="Google Shape;194;p1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1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98" name="Google Shape;198;p1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2" name="Google Shape;202;p1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03" name="Google Shape;203;p1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04" name="Google Shape;204;p1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1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07" name="Google Shape;207;p1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11" name="Google Shape;211;p1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16" name="Google Shape;216;p1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1" name="Google Shape;221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25" name="Google Shape;225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1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1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33" name="Google Shape;233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" name="Google Shape;236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39" name="Google Shape;239;p1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1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3" name="Google Shape;243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246" name="Google Shape;246;p1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247" name="Google Shape;247;p1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p1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251" name="Google Shape;251;p1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1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255" name="Google Shape;255;p1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7" name="Google Shape;257;p1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61" name="Google Shape;261;p2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p20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5" name="Google Shape;265;p20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269" name="Google Shape;269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2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72" name="Google Shape;272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Progetto di Machine Learning</a:t>
            </a:r>
            <a:endParaRPr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A.A. 2024-2025 </a:t>
            </a:r>
            <a:endParaRPr/>
          </a:p>
        </p:txBody>
      </p:sp>
      <p:pic>
        <p:nvPicPr>
          <p:cNvPr id="279" name="Google Shape;27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075" y="3081175"/>
            <a:ext cx="2207224" cy="22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Dataset</a:t>
            </a:r>
            <a:endParaRPr/>
          </a:p>
        </p:txBody>
      </p:sp>
      <p:sp>
        <p:nvSpPr>
          <p:cNvPr id="285" name="Google Shape;285;p3"/>
          <p:cNvSpPr txBox="1"/>
          <p:nvPr>
            <p:ph idx="1" type="body"/>
          </p:nvPr>
        </p:nvSpPr>
        <p:spPr>
          <a:xfrm>
            <a:off x="1304000" y="1494800"/>
            <a:ext cx="70305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1581"/>
              <a:buNone/>
            </a:pPr>
            <a:r>
              <a:rPr b="1" lang="it" sz="4367">
                <a:solidFill>
                  <a:srgbClr val="000000"/>
                </a:solidFill>
              </a:rPr>
              <a:t>Nome:</a:t>
            </a:r>
            <a:r>
              <a:rPr lang="it" sz="4367">
                <a:solidFill>
                  <a:srgbClr val="000000"/>
                </a:solidFill>
              </a:rPr>
              <a:t> Default of Credit Card Clients</a:t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1581"/>
              <a:buNone/>
            </a:pPr>
            <a:r>
              <a:t/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1581"/>
              <a:buNone/>
            </a:pPr>
            <a:r>
              <a:rPr b="1" lang="it" sz="4367">
                <a:solidFill>
                  <a:srgbClr val="000000"/>
                </a:solidFill>
              </a:rPr>
              <a:t>Origine:</a:t>
            </a:r>
            <a:r>
              <a:rPr lang="it" sz="4367">
                <a:solidFill>
                  <a:srgbClr val="000000"/>
                </a:solidFill>
              </a:rPr>
              <a:t> UCI Machine Learning Repository</a:t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581"/>
              <a:buNone/>
            </a:pPr>
            <a:r>
              <a:rPr b="1" lang="it" sz="4367">
                <a:solidFill>
                  <a:srgbClr val="000000"/>
                </a:solidFill>
              </a:rPr>
              <a:t>Dimensioni:</a:t>
            </a:r>
            <a:r>
              <a:rPr lang="it" sz="4367">
                <a:solidFill>
                  <a:srgbClr val="000000"/>
                </a:solidFill>
              </a:rPr>
              <a:t> 30.000 istanze, 23 variabili esplicative</a:t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581"/>
              <a:buNone/>
            </a:pPr>
            <a:r>
              <a:rPr b="1" lang="it" sz="4367">
                <a:solidFill>
                  <a:srgbClr val="000000"/>
                </a:solidFill>
              </a:rPr>
              <a:t>Target:</a:t>
            </a:r>
            <a:r>
              <a:rPr lang="it" sz="4367">
                <a:solidFill>
                  <a:srgbClr val="000000"/>
                </a:solidFill>
              </a:rPr>
              <a:t> Variabile binaria "default payment" (1 = default, 0 = no default)</a:t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581"/>
              <a:buNone/>
            </a:pPr>
            <a:r>
              <a:rPr b="1" lang="it" sz="4367">
                <a:solidFill>
                  <a:srgbClr val="000000"/>
                </a:solidFill>
              </a:rPr>
              <a:t>Dati Disponibili:</a:t>
            </a:r>
            <a:endParaRPr b="1" sz="4367">
              <a:solidFill>
                <a:srgbClr val="000000"/>
              </a:solidFill>
            </a:endParaRPr>
          </a:p>
          <a:p>
            <a:pPr indent="-31876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99977"/>
              <a:buFont typeface="Nunito"/>
              <a:buChar char="●"/>
            </a:pPr>
            <a:r>
              <a:rPr lang="it" sz="4367">
                <a:solidFill>
                  <a:srgbClr val="000000"/>
                </a:solidFill>
              </a:rPr>
              <a:t>Informazioni demografiche</a:t>
            </a:r>
            <a:endParaRPr sz="4367">
              <a:solidFill>
                <a:srgbClr val="000000"/>
              </a:solidFill>
            </a:endParaRPr>
          </a:p>
          <a:p>
            <a:pPr indent="-3187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977"/>
              <a:buFont typeface="Nunito"/>
              <a:buChar char="●"/>
            </a:pPr>
            <a:r>
              <a:rPr lang="it" sz="4367">
                <a:solidFill>
                  <a:srgbClr val="000000"/>
                </a:solidFill>
              </a:rPr>
              <a:t>Cronologia dei pagamenti</a:t>
            </a:r>
            <a:endParaRPr sz="4367">
              <a:solidFill>
                <a:srgbClr val="000000"/>
              </a:solidFill>
            </a:endParaRPr>
          </a:p>
          <a:p>
            <a:pPr indent="-3187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977"/>
              <a:buFont typeface="Nunito"/>
              <a:buChar char="●"/>
            </a:pPr>
            <a:r>
              <a:rPr lang="it" sz="4367">
                <a:solidFill>
                  <a:srgbClr val="000000"/>
                </a:solidFill>
              </a:rPr>
              <a:t>Ammontare delle fatture e pagamenti effettuati</a:t>
            </a:r>
            <a:endParaRPr sz="43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307692"/>
              <a:buNone/>
            </a:pPr>
            <a:r>
              <a:t/>
            </a:r>
            <a:endParaRPr/>
          </a:p>
        </p:txBody>
      </p:sp>
      <p:pic>
        <p:nvPicPr>
          <p:cNvPr descr="File:Noun project database 1276526 cc.svg - Wikipedia" id="286" name="Google Shape;2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000" y="3129025"/>
            <a:ext cx="1314050" cy="14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"/>
          <p:cNvSpPr txBox="1"/>
          <p:nvPr>
            <p:ph type="title"/>
          </p:nvPr>
        </p:nvSpPr>
        <p:spPr>
          <a:xfrm>
            <a:off x="1360325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Obiettivi</a:t>
            </a:r>
            <a:endParaRPr/>
          </a:p>
        </p:txBody>
      </p:sp>
      <p:sp>
        <p:nvSpPr>
          <p:cNvPr id="294" name="Google Shape;294;p2"/>
          <p:cNvSpPr txBox="1"/>
          <p:nvPr>
            <p:ph idx="1" type="body"/>
          </p:nvPr>
        </p:nvSpPr>
        <p:spPr>
          <a:xfrm>
            <a:off x="1269875" y="19787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Predire se un cliente andrà in default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Confrontare la performance di modelli predittivi in termini di accuratezza e carico computazionale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 sz="1800"/>
              <a:t>Confrontare la precisione di modelli trainati omettendo dati potenzialmente “discriminatori”</a:t>
            </a:r>
            <a:endParaRPr sz="1800"/>
          </a:p>
        </p:txBody>
      </p:sp>
      <p:pic>
        <p:nvPicPr>
          <p:cNvPr id="295" name="Google Shape;2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725" y="1613525"/>
            <a:ext cx="3236875" cy="25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4" name="Google Shape;304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Elaborazione dei dati</a:t>
            </a: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949425" y="1878688"/>
            <a:ext cx="4317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Correzione valori inconsistenti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Normalizzazione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Rimozione features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99" y="411163"/>
            <a:ext cx="7250799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12" name="Google Shape;3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 rot="612475">
            <a:off x="-574599" y="1858025"/>
            <a:ext cx="5120098" cy="339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Modelli utilizzati </a:t>
            </a:r>
            <a:endParaRPr/>
          </a:p>
        </p:txBody>
      </p:sp>
      <p:sp>
        <p:nvSpPr>
          <p:cNvPr id="319" name="Google Shape;319;p6"/>
          <p:cNvSpPr txBox="1"/>
          <p:nvPr>
            <p:ph idx="1" type="body"/>
          </p:nvPr>
        </p:nvSpPr>
        <p:spPr>
          <a:xfrm>
            <a:off x="1244800" y="16549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Albero Decisionale: Metodo interpretabile, efficace su dataset strutturati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Rete Neurale Multistrato (MLP): Backpropagation per catturare relazioni complesse</a:t>
            </a:r>
            <a:endParaRPr sz="1500"/>
          </a:p>
        </p:txBody>
      </p:sp>
      <p:pic>
        <p:nvPicPr>
          <p:cNvPr id="320" name="Google Shape;3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Neural Network Deep Learning | Free SVG" id="322" name="Google Shape;322;p6"/>
          <p:cNvPicPr preferRelativeResize="0"/>
          <p:nvPr/>
        </p:nvPicPr>
        <p:blipFill rotWithShape="1">
          <a:blip r:embed="rId5">
            <a:alphaModFix amt="15000"/>
          </a:blip>
          <a:srcRect b="0" l="0" r="0" t="0"/>
          <a:stretch/>
        </p:blipFill>
        <p:spPr>
          <a:xfrm rot="-1263825">
            <a:off x="6941146" y="2756310"/>
            <a:ext cx="2473583" cy="232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682def0cb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Training e validazione</a:t>
            </a:r>
            <a:endParaRPr/>
          </a:p>
        </p:txBody>
      </p:sp>
      <p:sp>
        <p:nvSpPr>
          <p:cNvPr id="328" name="Google Shape;328;g32682def0cb_0_0"/>
          <p:cNvSpPr txBox="1"/>
          <p:nvPr>
            <p:ph idx="1" type="body"/>
          </p:nvPr>
        </p:nvSpPr>
        <p:spPr>
          <a:xfrm>
            <a:off x="1158925" y="1693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Training sul 70% del dataset, test sul 30%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Validazione con cross-validation (5 fold)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it" sz="1800"/>
              <a:t>Grid-search per l’individuazione dei migliori iperparametri</a:t>
            </a:r>
            <a:endParaRPr sz="1800"/>
          </a:p>
        </p:txBody>
      </p:sp>
      <p:sp>
        <p:nvSpPr>
          <p:cNvPr id="329" name="Google Shape;329;g32682def0cb_0_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7"/>
          <p:cNvPicPr preferRelativeResize="0"/>
          <p:nvPr/>
        </p:nvPicPr>
        <p:blipFill rotWithShape="1">
          <a:blip r:embed="rId3">
            <a:alphaModFix/>
          </a:blip>
          <a:srcRect b="0" l="2290" r="-2288" t="0"/>
          <a:stretch/>
        </p:blipFill>
        <p:spPr>
          <a:xfrm>
            <a:off x="804925" y="1677350"/>
            <a:ext cx="3670275" cy="28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975" y="1677350"/>
            <a:ext cx="3670275" cy="288098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7" name="Google Shape;337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 predittive (ROC)</a:t>
            </a:r>
            <a:endParaRPr/>
          </a:p>
        </p:txBody>
      </p:sp>
      <p:pic>
        <p:nvPicPr>
          <p:cNvPr id="338" name="Google Shape;33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456eab68e_1_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44" name="Google Shape;344;g32456eab68e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750" y="1965675"/>
            <a:ext cx="3290076" cy="27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2456eab68e_1_8"/>
          <p:cNvSpPr txBox="1"/>
          <p:nvPr/>
        </p:nvSpPr>
        <p:spPr>
          <a:xfrm>
            <a:off x="1329550" y="1377900"/>
            <a:ext cx="77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due modelli performano in modo simile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6" name="Google Shape;346;g32456eab68e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675" y="1965481"/>
            <a:ext cx="3348676" cy="278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2456eab68e_1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2456eab68e_1_8"/>
          <p:cNvSpPr txBox="1"/>
          <p:nvPr>
            <p:ph type="title"/>
          </p:nvPr>
        </p:nvSpPr>
        <p:spPr>
          <a:xfrm>
            <a:off x="1303800" y="674775"/>
            <a:ext cx="70305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Confusion matrix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682def0cb_0_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</a:t>
            </a:r>
            <a:endParaRPr/>
          </a:p>
        </p:txBody>
      </p:sp>
      <p:sp>
        <p:nvSpPr>
          <p:cNvPr id="354" name="Google Shape;354;g32682def0cb_0_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55" name="Google Shape;355;g32682def0c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688" y="3965100"/>
            <a:ext cx="4658625" cy="8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2682def0c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075" y="2073050"/>
            <a:ext cx="3956824" cy="11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2682def0cb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475" y="2073050"/>
            <a:ext cx="3763755" cy="114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2682def0cb_0_7"/>
          <p:cNvSpPr txBox="1"/>
          <p:nvPr/>
        </p:nvSpPr>
        <p:spPr>
          <a:xfrm>
            <a:off x="369475" y="1689275"/>
            <a:ext cx="404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Albero decisionale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g32682def0cb_0_7"/>
          <p:cNvSpPr txBox="1"/>
          <p:nvPr/>
        </p:nvSpPr>
        <p:spPr>
          <a:xfrm>
            <a:off x="4840075" y="1689275"/>
            <a:ext cx="404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Rete multistrato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Considerazioni finali </a:t>
            </a:r>
            <a:endParaRPr/>
          </a:p>
        </p:txBody>
      </p:sp>
      <p:sp>
        <p:nvSpPr>
          <p:cNvPr id="365" name="Google Shape;365;p8"/>
          <p:cNvSpPr txBox="1"/>
          <p:nvPr>
            <p:ph idx="1" type="body"/>
          </p:nvPr>
        </p:nvSpPr>
        <p:spPr>
          <a:xfrm>
            <a:off x="1303800" y="1597875"/>
            <a:ext cx="67884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it" sz="1800"/>
              <a:t>Efficacia dei modelli:</a:t>
            </a:r>
            <a:r>
              <a:rPr lang="it" sz="1800"/>
              <a:t> La precisione diminuisce leggermente rimuovendo le feature potenzialmente discriminatorie, ma rimanendo nel margine di errore.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it" sz="1800"/>
              <a:t>Scelta modello:</a:t>
            </a:r>
            <a:r>
              <a:rPr lang="it" sz="1800"/>
              <a:t> Considerando il similare livello di accuracy e la maggiore rapidità e leggerezza computazionale dell’albero, il seguente modello decisionale risulta più adatto in questo contesto</a:t>
            </a:r>
            <a:endParaRPr sz="1500"/>
          </a:p>
        </p:txBody>
      </p:sp>
      <p:pic>
        <p:nvPicPr>
          <p:cNvPr id="366" name="Google Shape;3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it"/>
              <a:t>Grazie </a:t>
            </a:r>
            <a:endParaRPr/>
          </a:p>
        </p:txBody>
      </p:sp>
      <p:sp>
        <p:nvSpPr>
          <p:cNvPr id="373" name="Google Shape;373;p9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1600"/>
              <a:t>Lanza Andrea 887501</a:t>
            </a:r>
            <a:endParaRPr b="1" sz="16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1600"/>
              <a:t>Bonfanti Davide 873293</a:t>
            </a:r>
            <a:endParaRPr b="1" sz="16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it" sz="1600"/>
              <a:t>Ferrario Christian 886230</a:t>
            </a:r>
            <a:endParaRPr b="1" sz="1600"/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1600"/>
          </a:p>
        </p:txBody>
      </p:sp>
      <p:pic>
        <p:nvPicPr>
          <p:cNvPr id="374" name="Google Shape;3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50" y="0"/>
            <a:ext cx="990551" cy="9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